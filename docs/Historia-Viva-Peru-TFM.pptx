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70ed64900b4ca1" /><Relationship Type="http://schemas.openxmlformats.org/officeDocument/2006/relationships/extended-properties" Target="/docProps/app.xml" Id="R74d55c11797a4566" /><Relationship Type="http://schemas.openxmlformats.org/officeDocument/2006/relationships/officeDocument" Target="/ppt/presentation.xml" Id="Rf6674bdb2da6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29cff33534c1f"/>
  </p:sldMasterIdLst>
  <p:notesMasterIdLst>
    <p:notesMasterId xmlns:r="http://schemas.openxmlformats.org/officeDocument/2006/relationships" r:id="R7ae2dd7b7f3e45c6"/>
  </p:notesMasterIdLst>
  <p:sldIdLst>
    <p:sldId xmlns:r="http://schemas.openxmlformats.org/officeDocument/2006/relationships" id="256" r:id="R45ee47f644814f5f"/>
    <p:sldId xmlns:r="http://schemas.openxmlformats.org/officeDocument/2006/relationships" id="257" r:id="R26eab798c9304f3f"/>
    <p:sldId xmlns:r="http://schemas.openxmlformats.org/officeDocument/2006/relationships" id="258" r:id="Re311512a89e14332"/>
    <p:sldId xmlns:r="http://schemas.openxmlformats.org/officeDocument/2006/relationships" id="259" r:id="Rac6e36f3b0da4b70"/>
    <p:sldId xmlns:r="http://schemas.openxmlformats.org/officeDocument/2006/relationships" id="260" r:id="R8b15d80acef442f2"/>
    <p:sldId xmlns:r="http://schemas.openxmlformats.org/officeDocument/2006/relationships" id="261" r:id="R316184df5713446e"/>
    <p:sldId xmlns:r="http://schemas.openxmlformats.org/officeDocument/2006/relationships" id="262" r:id="R8703e0c61cc14070"/>
    <p:sldId xmlns:r="http://schemas.openxmlformats.org/officeDocument/2006/relationships" id="263" r:id="Rc615db315d81483d"/>
    <p:sldId xmlns:r="http://schemas.openxmlformats.org/officeDocument/2006/relationships" id="264" r:id="R6a496c7aee314818"/>
    <p:sldId xmlns:r="http://schemas.openxmlformats.org/officeDocument/2006/relationships" id="265" r:id="R9a0e7f81b89e4f48"/>
    <p:sldId xmlns:r="http://schemas.openxmlformats.org/officeDocument/2006/relationships" id="266" r:id="R593f8784cec642fe"/>
    <p:sldId xmlns:r="http://schemas.openxmlformats.org/officeDocument/2006/relationships" id="267" r:id="R8f24255f77114a35"/>
    <p:sldId xmlns:r="http://schemas.openxmlformats.org/officeDocument/2006/relationships" id="268" r:id="R683fb67f98a74d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29cff33534c1f" /><Relationship Type="http://schemas.openxmlformats.org/officeDocument/2006/relationships/theme" Target="/ppt/theme/theme1.xml" Id="R1eb78f634bc74aa1" /><Relationship Type="http://schemas.openxmlformats.org/officeDocument/2006/relationships/notesMaster" Target="/ppt/notesMasters/notesMaster1.xml" Id="R7ae2dd7b7f3e45c6" /><Relationship Type="http://schemas.openxmlformats.org/officeDocument/2006/relationships/presProps" Target="/ppt/presProps.xml" Id="R9ebc90edd4ab4172" /><Relationship Type="http://schemas.openxmlformats.org/officeDocument/2006/relationships/viewProps" Target="/ppt/viewProps.xml" Id="R4e1127ebe843498a" /><Relationship Type="http://schemas.openxmlformats.org/officeDocument/2006/relationships/tableStyles" Target="/ppt/tableStyles.xml" Id="R2371d3659b9144ba" /><Relationship Type="http://schemas.openxmlformats.org/officeDocument/2006/relationships/slide" Target="/ppt/slides/slide1.xml" Id="R45ee47f644814f5f" /><Relationship Type="http://schemas.openxmlformats.org/officeDocument/2006/relationships/slide" Target="/ppt/slides/slide2.xml" Id="R26eab798c9304f3f" /><Relationship Type="http://schemas.openxmlformats.org/officeDocument/2006/relationships/slide" Target="/ppt/slides/slide3.xml" Id="Re311512a89e14332" /><Relationship Type="http://schemas.openxmlformats.org/officeDocument/2006/relationships/slide" Target="/ppt/slides/slide4.xml" Id="Rac6e36f3b0da4b70" /><Relationship Type="http://schemas.openxmlformats.org/officeDocument/2006/relationships/slide" Target="/ppt/slides/slide5.xml" Id="R8b15d80acef442f2" /><Relationship Type="http://schemas.openxmlformats.org/officeDocument/2006/relationships/slide" Target="/ppt/slides/slide6.xml" Id="R316184df5713446e" /><Relationship Type="http://schemas.openxmlformats.org/officeDocument/2006/relationships/slide" Target="/ppt/slides/slide7.xml" Id="R8703e0c61cc14070" /><Relationship Type="http://schemas.openxmlformats.org/officeDocument/2006/relationships/slide" Target="/ppt/slides/slide8.xml" Id="Rc615db315d81483d" /><Relationship Type="http://schemas.openxmlformats.org/officeDocument/2006/relationships/slide" Target="/ppt/slides/slide9.xml" Id="R6a496c7aee314818" /><Relationship Type="http://schemas.openxmlformats.org/officeDocument/2006/relationships/slide" Target="/ppt/slides/slide10.xml" Id="R9a0e7f81b89e4f48" /><Relationship Type="http://schemas.openxmlformats.org/officeDocument/2006/relationships/slide" Target="/ppt/slides/slide11.xml" Id="R593f8784cec642fe" /><Relationship Type="http://schemas.openxmlformats.org/officeDocument/2006/relationships/slide" Target="/ppt/slides/slide12.xml" Id="R8f24255f77114a35" /><Relationship Type="http://schemas.openxmlformats.org/officeDocument/2006/relationships/slide" Target="/ppt/slides/slide13.xml" Id="R683fb67f98a7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6ca25cb12c64c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ed9b17a33547b9" /><Relationship Type="http://schemas.openxmlformats.org/officeDocument/2006/relationships/notesMaster" Target="/ppt/notesMasters/notesMaster1.xml" Id="R050e4f92fadf40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48cdcb51e94a9e" /><Relationship Type="http://schemas.openxmlformats.org/officeDocument/2006/relationships/notesMaster" Target="/ppt/notesMasters/notesMaster1.xml" Id="R7828b6aa974c49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a072edf4c74b07" /><Relationship Type="http://schemas.openxmlformats.org/officeDocument/2006/relationships/notesMaster" Target="/ppt/notesMasters/notesMaster1.xml" Id="R52cc1f001cf24b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77cb114d1c41ae" /><Relationship Type="http://schemas.openxmlformats.org/officeDocument/2006/relationships/notesMaster" Target="/ppt/notesMasters/notesMaster1.xml" Id="Re7d1036d8eb649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fb06a615e5476b" /><Relationship Type="http://schemas.openxmlformats.org/officeDocument/2006/relationships/notesMaster" Target="/ppt/notesMasters/notesMaster1.xml" Id="R9e918e50834941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a6f9bc5d914357" /><Relationship Type="http://schemas.openxmlformats.org/officeDocument/2006/relationships/notesMaster" Target="/ppt/notesMasters/notesMaster1.xml" Id="R85b859e1ab15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7e9bdff8c648ba" /><Relationship Type="http://schemas.openxmlformats.org/officeDocument/2006/relationships/notesMaster" Target="/ppt/notesMasters/notesMaster1.xml" Id="R178280d7c19d42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94b537dab6420d" /><Relationship Type="http://schemas.openxmlformats.org/officeDocument/2006/relationships/notesMaster" Target="/ppt/notesMasters/notesMaster1.xml" Id="R3ab2b41f00ef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7824bb9e294823" /><Relationship Type="http://schemas.openxmlformats.org/officeDocument/2006/relationships/notesMaster" Target="/ppt/notesMasters/notesMaster1.xml" Id="R942ad23397e841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4cdc742ffe4d04" /><Relationship Type="http://schemas.openxmlformats.org/officeDocument/2006/relationships/notesMaster" Target="/ppt/notesMasters/notesMaster1.xml" Id="Re8ccbc93682945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74af9778854afb" /><Relationship Type="http://schemas.openxmlformats.org/officeDocument/2006/relationships/notesMaster" Target="/ppt/notesMasters/notesMaster1.xml" Id="R4982b08d84434b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7d764b3a434783" /><Relationship Type="http://schemas.openxmlformats.org/officeDocument/2006/relationships/notesMaster" Target="/ppt/notesMasters/notesMaster1.xml" Id="Rd5d9c3472ed948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3394bf5aee4c33" /><Relationship Type="http://schemas.openxmlformats.org/officeDocument/2006/relationships/notesMaster" Target="/ppt/notesMasters/notesMaster1.xml" Id="R0a306d1326c6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400fcfbf045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ca0a6197474f8e" /><Relationship Type="http://schemas.openxmlformats.org/officeDocument/2006/relationships/slideLayout" Target="/ppt/slideLayouts/slideLayout2.xml" Id="Rab5fbf8296bd48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5fbf8296bd48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6040273ba452b" /><Relationship Type="http://schemas.openxmlformats.org/officeDocument/2006/relationships/notesSlide" Target="/ppt/notesSlides/notesSlide1.xml" Id="R2520dd68656246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4bc60a63c4b6d" /><Relationship Type="http://schemas.openxmlformats.org/officeDocument/2006/relationships/notesSlide" Target="/ppt/notesSlides/notesSlide2.xml" Id="R3e73151a7c4546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a7eb44b0b4933" /><Relationship Type="http://schemas.openxmlformats.org/officeDocument/2006/relationships/notesSlide" Target="/ppt/notesSlides/notesSlide3.xml" Id="R95c8eb675f574e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b01b9e4e74c56" /><Relationship Type="http://schemas.openxmlformats.org/officeDocument/2006/relationships/notesSlide" Target="/ppt/notesSlides/notesSlide4.xml" Id="R28939455b81e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6d4d6095744e1" /><Relationship Type="http://schemas.openxmlformats.org/officeDocument/2006/relationships/notesSlide" Target="/ppt/notesSlides/notesSlide5.xml" Id="Rda037b0a1b8e41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6d868a45ac440b" /><Relationship Type="http://schemas.openxmlformats.org/officeDocument/2006/relationships/notesSlide" Target="/ppt/notesSlides/notesSlide6.xml" Id="Rc96c520f33ab40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376750b604ebb" /><Relationship Type="http://schemas.openxmlformats.org/officeDocument/2006/relationships/notesSlide" Target="/ppt/notesSlides/notesSlide7.xml" Id="Raa259acd0cd449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d6567c7e1940fa" /><Relationship Type="http://schemas.openxmlformats.org/officeDocument/2006/relationships/notesSlide" Target="/ppt/notesSlides/notesSlide8.xml" Id="R8c24a3ad858444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c9ce0b9be44cf5" /><Relationship Type="http://schemas.openxmlformats.org/officeDocument/2006/relationships/notesSlide" Target="/ppt/notesSlides/notesSlide9.xml" Id="R63bac95ea226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24bf1eb5f4eb5" /><Relationship Type="http://schemas.openxmlformats.org/officeDocument/2006/relationships/notesSlide" Target="/ppt/notesSlides/notesSlide10.xml" Id="R77c214bc1bb345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c71edad531419a" /><Relationship Type="http://schemas.openxmlformats.org/officeDocument/2006/relationships/notesSlide" Target="/ppt/notesSlides/notesSlide11.xml" Id="R5b84f796e60245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be70c21d98423e" /><Relationship Type="http://schemas.openxmlformats.org/officeDocument/2006/relationships/notesSlide" Target="/ppt/notesSlides/notesSlide12.xml" Id="R879278fdf2ba40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d68ca3ff2d492e" /><Relationship Type="http://schemas.openxmlformats.org/officeDocument/2006/relationships/notesSlide" Target="/ppt/notesSlides/notesSlide13.xml" Id="Rc76ca6e0c15a45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1FDDF-C8F7-4DDD-BDF6-42B15CF4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2B"/>
          </a:solidFill>
          <a:ln xmlns:a="http://schemas.openxmlformats.org/drawingml/2006/main" w="0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F0D07-A65D-4420-95DE-2B716D5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285E"/>
          </a:solidFill>
          <a:ln xmlns:a="http://schemas.openxmlformats.org/drawingml/2006/main" w="0">
            <a:solidFill>
              <a:srgbClr val="2F28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BAB4A-3254-4634-841A-D47CE24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286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5B495-14DF-4251-9C89-232A953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02B4E"/>
          </a:solidFill>
          <a:ln xmlns:a="http://schemas.openxmlformats.org/drawingml/2006/main" w="9525">
            <a:solidFill>
              <a:srgbClr val="302B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4F572-04D2-482A-BDB2-C8E89EF1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DCD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D6FF"/>
                </a:solidFill>
                <a:latin typeface="Aptos"/>
                <a:ea typeface="Aptos"/>
                <a:cs typeface="Aptos"/>
              </a:rPr>
              <a:t>PROYECTO FINAL DE MÁSTER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D0D38-A17D-429F-9CA1-CF8AFE06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81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Historia Viva Perú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8D50E-A6AB-440C-A23C-534FAFEA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7D2E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7D2E3"/>
                </a:solidFill>
                <a:latin typeface="Aptos"/>
                <a:ea typeface="Aptos"/>
                <a:cs typeface="Aptos"/>
              </a:rPr>
              <a:t>Evidencia histórica navegable para docentes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46301-E847-4BC6-B397-05AAE7FF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9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C2D2D-7BD7-4F38-ACBE-C4FD46D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Fuente → segmentos → entidades → BETO → corrección docente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0129C-AF2F-4066-9A9B-4F232385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3C9"/>
                </a:solidFill>
                <a:latin typeface="Aptos"/>
                <a:ea typeface="Aptos"/>
                <a:cs typeface="Aptos"/>
              </a:rPr>
              <a:t>Jaqueline Ramos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2EC43-9387-43A7-9117-6FD962D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5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E43DD-F824-40F1-A51F-4F10CD70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3C9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039B4-1189-4D02-810C-86CA713A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B3C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48166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07FC1-CC5E-4772-8426-2946F6BC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D8B63-9F3F-4D30-B344-AE76D151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3D999-785F-49DC-8339-C00633F4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La evidencia existe. Encontrarla sigue costando demasiado.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F4182-863D-4775-B6F7-CEE032C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Videos largos y documentos extensos convierten una pregunta concreta en una búsqueda manual.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6F4BE-5DC6-41D0-AF2A-7553B394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95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152B"/>
          </a:solidFill>
          <a:ln xmlns:a="http://schemas.openxmlformats.org/drawingml/2006/main" w="9525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B038F-EB04-4DDC-83DC-61D7394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238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E7B75B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E7B75B"/>
                </a:solidFill>
                <a:latin typeface="Aptos Display"/>
                <a:ea typeface="Aptos Display"/>
                <a:cs typeface="Aptos Display"/>
              </a:rPr>
              <a:t>30–60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0C4F8-7B66-48EC-876E-E6E9DBB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minutos por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A881A-642B-408B-AF2C-0BCADD81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3028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D2E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D2E3"/>
                </a:solidFill>
                <a:latin typeface="Aptos"/>
                <a:ea typeface="Aptos"/>
                <a:cs typeface="Aptos"/>
              </a:rPr>
              <a:t>El docente recorre el recurso completo para localizar una idea, comprobarla y citarla.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22657-7C2D-44E4-ACE7-3214C515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9E341-8468-4903-B6FE-81427C1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Buscar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8E3ED-F141-4FC8-84CF-5B3F35B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146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Recorrer video o 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FEFD3-4991-4765-B538-C297BB09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337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31C98-A4C6-418B-BAFF-F0498B3D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69CFC-ACA4-4DD0-BCBE-6CF9A55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Comprobar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F8B04-23A7-4440-BD73-F7019F0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Releer el 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BBEAB-1FC0-42C1-BCFF-5D8125C6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0BC6D-04BE-4539-8505-130937C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624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F9EC9-066E-4049-BCCE-0EE33DF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Citar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33C14-02EF-4D0D-AA32-84DC9E18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24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Anotar minuto o página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FED3C-2C08-4602-B425-3B977BB5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12748-D047-4A18-8F88-3783F97F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331A2-7636-4C6E-B578-E11700C4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95208-9EC4-4AB3-BE84-0E8D490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71137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27BA0-05A2-4C97-90E2-B3F4F31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29967-3793-4761-A8AE-60D2DCD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34A6D-8DD3-4BA2-AF4B-647DF34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Diseñado alrededor del trabajo docente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01931-E1AE-44FD-946D-9337FF74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La experiencia cotidiana oculta la complejidad técnica y prioriza comprensión, verificación y corrección.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EE64C-2CB1-4E73-A9F4-07C9BBD1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“Quiero encontrar la evidencia útil, entender su subtema y abrir la fuente exacta.”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38637-2CC8-4CE7-8BC0-D21D4E35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76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4FEAC-9A6A-4443-A9C6-0C721B8F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488CD-65C4-4F13-97B0-957EFED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AÑADIR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E29F0-776D-4821-A9EE-4FF86C6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PDF o YouTube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096EA-F14F-42AD-85C5-C8050951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38550"/>
            <a:ext cx="2476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56D44-C099-4737-986A-BA7BFC4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481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A5"/>
          </a:solidFill>
          <a:ln xmlns:a="http://schemas.openxmlformats.org/drawingml/2006/main" w="0">
            <a:solidFill>
              <a:srgbClr val="63C7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9680B-D743-4767-9BF5-4BAA3908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148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31551-B72F-40A5-9B49-0027E53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767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Tema + entidades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D2FAE-B59F-4FFA-BD21-D35A37DB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2476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66999-EE19-4610-864C-EB835225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22850-1559-499C-A7EC-6CCFCFE0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35849-0C55-4836-BF05-D368978D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Página o minuto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1D08B-2FB6-49F1-A292-053C11FB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38550"/>
            <a:ext cx="2476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AE5CC-45DB-49D0-9A08-E51DD563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481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746CE-4008-4896-843E-8F7953E2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148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27C3B-7E09-41ED-9207-AE597B49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76750"/>
            <a:ext cx="2057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Criterio docente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B3953-AC7E-44C2-8B6B-587D23F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D2465-FCFD-42FC-806C-96AF068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7274D-9CC9-4EB3-AF73-9E4994AF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75909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7AFE5-E322-4B6C-9CB3-BB21F1FC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2755A-2EA5-4D77-8872-2113E3D9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9C9AC-5415-45EF-8316-A16CB90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Un núcleo simple, trazable y corregible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9652-8A9B-4EA6-856C-D4A14AE6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Toda predicción conserva el texto y el punto exacto de la fuente original.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BF2DE-2321-4F9D-AB18-747171B9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952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F"/>
          </a:solidFill>
          <a:ln xmlns:a="http://schemas.openxmlformats.org/drawingml/2006/main" w="0">
            <a:solidFill>
              <a:srgbClr val="E8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8C31-1528-495E-9BBF-BCAEFDF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CBBF-6EB3-49C4-990A-85371F9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73CEA-9DCA-4614-904E-9C271F65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Fuente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5F979-0C82-4972-9C53-64F1B51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PDF / YouTube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9D801-F01B-4393-A369-08905D8B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4431C-D35D-49C5-970D-19A2C9B9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908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698A2-CBCE-4ECF-9396-81DADCB3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Segmentar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56D76-550D-4B6D-BEEC-EBDD6E75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196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página / minuto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5934F-27C5-4D88-B2BE-A82295D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84E7A-76B2-40C6-8844-212DC57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908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DD141-51B8-4526-8AC2-F944A4E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Enriquecer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90C2D-9E42-48DC-B4D5-039F0C7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196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años · personas · lugares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43BEF-1933-4599-9022-ECB9D27F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30413-488B-4FFC-9D6C-5A7F4D7C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908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E6E36-CA1B-46A5-A206-504A8DB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Clasificar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4A59B-2D14-4938-9D0D-8629761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96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BETO + confianza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68A04-C153-47B1-8FB3-D1EE9920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90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1905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232AB-18C1-427C-AA03-02F046C1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908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D2BED-EF42-4E1D-8EE4-C6D14DD5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Corregir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9A288-8E91-4932-A434-2B71910A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196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feedback estructurado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5E412-D42A-4F21-A034-09A960A7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7905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52B"/>
          </a:solidFill>
          <a:ln xmlns:a="http://schemas.openxmlformats.org/drawingml/2006/main" w="9525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DAD14-C5D5-42A6-8CAA-86A17F62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procedencia nunca se pierde: cada predicción conserva su localizador original.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19F74-8704-4D0A-BA6E-EE013118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1B992-B0F1-461B-8A35-99A51A00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5DA1F-0BFD-45DB-8F3F-A548F9F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23558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BAA58-A391-466D-9560-B2D29988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32939-D4A1-4C74-89D6-F80A1E2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C9481-8E30-4D1F-8FC6-B08925E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Separar responsabilidades hace viable la demo gratuita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9604-AFA7-445F-8DFD-5A9F8B6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La API orquesta; Neon persiste datos; Supabase Storage conserva archivos; Modal ejecuta ML y Hugging Face Hub aloja BETO.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D52CA-DBD7-4363-A2E5-1A665D5D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0A8CF-F5F2-4CF5-80E4-71DBEC9F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62312-838E-4FC6-A0AA-6F64DF04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FB1EB-7D16-4032-9525-B7F66436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BB9D2-200C-401A-9B9F-F1AB327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F7925-4697-47EC-B854-0F9CA32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577F8-AC0B-4BC4-8837-CD8BD7EC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DC7C1-409F-42E3-A3B1-9641DCDE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DB15A-9EB4-4DC6-B725-332935D3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05CFF-9615-40A0-A5E9-3425FAD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2B"/>
          </a:solidFill>
          <a:ln xmlns:a="http://schemas.openxmlformats.org/drawingml/2006/main" w="0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D43E4-B43E-4275-AECF-E039BDB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NestJS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4032B-9F52-4909-A642-56B5B6A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D8061-FF65-4107-97B1-0B480C19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3C7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A88BF-4F8B-444E-9472-0FE26D5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A5"/>
          </a:solidFill>
          <a:ln xmlns:a="http://schemas.openxmlformats.org/drawingml/2006/main" w="0">
            <a:solidFill>
              <a:srgbClr val="63C7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431B5-C390-4B9A-9710-E9749594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PostgreSQL + pgvector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D6E1D-6802-4C6C-8D36-3426C15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Neon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9480D-5698-48B2-B41A-556CF286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190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EA8FF-0177-45C2-80CB-8666A4B2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2E8C0-63A3-4248-8E00-DEDAA0C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PDF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E1109-78D7-495F-8FAC-BCE24F6E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Supabase 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C5C76-977A-454E-B0ED-11967FF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08942-3D4D-4181-83E8-5263D0D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68AB8-DD44-44F1-899D-84829DBD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62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FastAPI + BETO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4C016-FE13-4F3C-A40F-83D2CA0F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067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Modal · HF Hub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01FDBF-7FF2-481D-A7A6-1C909114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3FF"/>
          </a:solidFill>
          <a:ln xmlns:a="http://schemas.openxmlformats.org/drawingml/2006/main" w="9525">
            <a:solidFill>
              <a:srgbClr val="E8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EC5E2-33D7-429F-8EEF-BDFF69C3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52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Datos persistentes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C88AE-3827-4177-8A04-BCD54632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3FF"/>
          </a:solidFill>
          <a:ln xmlns:a="http://schemas.openxmlformats.org/drawingml/2006/main" w="9525">
            <a:solidFill>
              <a:srgbClr val="E8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6A073C-2BAF-4320-A3D0-8F442401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52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Archivos fuera de Render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680E3F-A2F8-4DF8-95E3-7D9E62A6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86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3FF"/>
          </a:solidFill>
          <a:ln xmlns:a="http://schemas.openxmlformats.org/drawingml/2006/main" w="9525">
            <a:solidFill>
              <a:srgbClr val="E8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2A4B3-FF4F-4615-AEB3-8DEDDCF8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529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Modelo restaurable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DBD5F-9831-46C7-81BB-E8CD269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49A11-CA1C-4C7A-AFD8-6195783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5F417-6305-4F43-88EB-2E78247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15667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BAA58-A391-466D-9560-B2D29988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32939-D4A1-4C74-89D6-F80A1E2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STACK TECNOLÓGICO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C9481-8E30-4D1F-8FC6-B08925EA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El stack completo, de extremo a extremo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9604-AFA7-445F-8DFD-5A9F8B6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Producto y API en TypeScript, ML en Python; toda la infraestructura en planes gratuitos.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DBD5F-9831-46C7-81BB-E8CD269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49A11-CA1C-4C7A-AFD8-6195783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E5F417-6305-4F43-88EB-2E78247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E11DCF9-CDB0-439F-A209-F89882D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21284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B398A06-4319-46B4-BDA1-E335B6D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12848"/>
            <a:ext cx="810158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React 19 · TypeScript · Vite · TanStack Query · Axios · Tailwind CSS · Recharts · pdf.js  —  deploy en Vercel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5A7979A5-E00C-4CEB-81B7-A429682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802636"/>
            <a:ext cx="1089964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5D01636-AF60-4643-8769-69D90CE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884932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API / BACKEND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DECC835-C2C2-4765-9FB5-121D361F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884932"/>
            <a:ext cx="810158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NestJS · TypeORM · JWT · Swagger · cola persistente PostgreSQL — deploy en Render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25E136B-147B-4E3A-A902-96EAF93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474720"/>
            <a:ext cx="1089964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468F7BDD-D1BE-47B8-B657-F1E43AA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557015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DATOS Y ARCHIVOS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430D62E3-1FDE-4B02-887C-4D93C381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57015"/>
            <a:ext cx="810158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PostgreSQL + pgvector (Neon) · Supabase Storage vía API S3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9D754C45-A58D-4EE0-AE5E-40C82D42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146804"/>
            <a:ext cx="1089964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EA843658-F32E-4431-BB21-4A4789E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229100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ML / NLP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3D824A06-C874-4773-BFAA-195275E7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29100"/>
            <a:ext cx="810158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FastAPI · Transformers · BETO · Sentence-Transformers · NER + alias · scikit-learn  —  deploy en Modal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75362E61-3930-4F32-823B-16CC5A3F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818888"/>
            <a:ext cx="1089964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A39B0ADB-499A-42C6-B8C1-36989161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901183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TRANSCRIPCIÓN DE VIDEO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45C9CDC2-3709-4EEF-BB14-62E368F4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01183"/>
            <a:ext cx="810158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Subtítulos de YouTube  ·  Supadata (fallback)  ·  Whisper + yt-dlp (audio)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4028FE22-B9EF-4DBD-8552-93C14BD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90972"/>
            <a:ext cx="1089964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22E57F9-5CBC-4B78-8E9D-CC0D5ABD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573268"/>
            <a:ext cx="2788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MODELO E INFRAESTRUCTURA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D993C3C3-9F0B-4001-BE0C-EA782899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573268"/>
            <a:ext cx="8101583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Hugging Face Hub (pesos BETO v1) · Colab GPU · Docker Compose · pnpm workspaces</a:t>
            </a:r>
          </a:p>
        </p:txBody>
      </p:sp>
    </p:spTree>
    <p:extLst>
      <p:ext uri="{BB962C8B-B14F-4D97-AF65-F5344CB8AC3E}">
        <p14:creationId xmlns:p14="http://schemas.microsoft.com/office/powerpoint/2010/main" val="21265735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04C86-9CC6-4AAA-9D18-D3E00A6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B824B-213C-4C0D-82A9-B6310A23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D0B90-59B6-4EC0-84B3-1ED3CD3A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Un corpus gold con división por fuente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F99AD-4319-4C28-B10D-4ACDF3B9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El dataset evita fuga entre train y test y mantiene un mínimo de 100 ejemplos por clase.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9683C-DCF7-4AD4-B258-80FD98DC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5546E8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5546E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7FB57-6493-4F24-80F4-AE53FE84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fuentes en 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D4110-51F8-448D-A3D8-742839C6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814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61C19-673F-4041-A361-ED2F76E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segmentos gold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2E45E-3F39-494B-A884-CFEDB588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63C7A5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63C7A5"/>
                </a:solidFill>
                <a:latin typeface="Aptos Display"/>
                <a:ea typeface="Aptos Display"/>
                <a:cs typeface="Aptos Display"/>
              </a:rPr>
              <a:t>670 / 144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F68AB-B9C2-4E2E-9A44-DFA85D9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PDF / YouTube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4CFE9-CAD9-4F36-8CFC-9C4CB14B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E7B75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E7B75B"/>
                </a:solidFill>
                <a:latin typeface="Aptos Display"/>
                <a:ea typeface="Aptos Display"/>
                <a:cs typeface="Aptos Display"/>
              </a:rPr>
              <a:t>≥100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6A44F-37F5-468B-AC30-02DD530A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ejemplos por clase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94686-DC0A-47AF-B432-F0EF5F6C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0782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DE6EA-CFCF-494B-B26F-14476A84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Split source-aware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4BA0E-93EE-40D4-AD42-E605F96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Una fuente completa pertenece a train, validation o test.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9E508-B3CE-45B1-9C04-775A6CC9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4F13A-06B8-4510-A8CD-F5D7EE3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FF058-BAF0-4BC8-BC81-C10CF380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14800"/>
            <a:ext cx="62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0A5BC-38DB-442F-AA59-B84E4C9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481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10B16-23F3-4213-BF47-9F3E6D6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628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8618A-3570-4956-BD0B-38CC6B9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481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B9710-8D8C-4FC4-BC54-1661366B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0 fuentes compartidas entre train y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64E7F-EDDB-471B-B2D9-C33A727C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ECDD4-A074-4A31-8831-6DDE9F96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4485F-2656-4C5F-B971-7E96B96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95165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50F8D-021A-4987-8BDF-4753F18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A0FA4-AB99-4748-B8B8-F685DB3C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EXPERIMENTO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9EDA3-6CE9-4F18-9A1A-753EB70E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BETO mejora el baseline, pero no alcanza el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ED5E3-7FE9-41A6-A0EB-B590724E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Comparación sobre el mismo snapshot source-aware, usando F1 macro como métrica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F8302-0C82-4CBC-A51C-01DE76B6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TF-IDF + Reg. Logística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2747F-46C7-45A9-9194-46FC30D3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ECE5"/>
          </a:solidFill>
          <a:ln xmlns:a="http://schemas.openxmlformats.org/drawingml/2006/main" w="0">
            <a:solidFill>
              <a:srgbClr val="F0EC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D8A57-4CDE-4F69-9936-12A7FD10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3458391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FF7F5-98E8-463A-BDE9-C9897A7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341" y="27336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B7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7B75B"/>
                </a:solidFill>
                <a:latin typeface="Aptos"/>
                <a:ea typeface="Aptos"/>
                <a:cs typeface="Aptos"/>
              </a:rPr>
              <a:t>0.353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995CB-ADCB-43C2-B83A-3752B670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BETO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3E31A-86AD-40E4-B586-F8DD28AD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ECE5"/>
          </a:solidFill>
          <a:ln xmlns:a="http://schemas.openxmlformats.org/drawingml/2006/main" w="0">
            <a:solidFill>
              <a:srgbClr val="F0EC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9A138-383E-4955-87C1-CDA343F8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4163786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32638-2D4A-4888-94F7-0E7FEE9A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736" y="38385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F7E6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7E6B"/>
                </a:solidFill>
                <a:latin typeface="Aptos"/>
                <a:ea typeface="Aptos"/>
                <a:cs typeface="Aptos"/>
              </a:rPr>
              <a:t>0.425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73C21-99E8-4F45-83A7-5CE1BCEB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28575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40E5F-322B-45A0-8BD0-3DB4C119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193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3FF"/>
          </a:solidFill>
          <a:ln xmlns:a="http://schemas.openxmlformats.org/drawingml/2006/main" w="9525">
            <a:solidFill>
              <a:srgbClr val="E8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05D71-4AFC-45CC-BF3A-9994066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859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UMBRAL 0.70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5E030-93E3-44E7-84F2-F894BC8A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F7E6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F7E6B"/>
                </a:solidFill>
                <a:latin typeface="Aptos Display"/>
                <a:ea typeface="Aptos Display"/>
                <a:cs typeface="Aptos Display"/>
              </a:rPr>
              <a:t>+0.072 F1 macro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327C3-B0D3-4620-9A6E-D06A74CB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91100"/>
            <a:ext cx="659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BETO supera el baseline, pero queda lejos del criterio de recomendación.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88533-2676-49C4-818B-786FB07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B2D17-2BF4-4438-9319-ED1DFBD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E21AD-7206-403A-8953-1A6A7650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73635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9AD61-3B30-4857-B1CB-BCCC5B53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9AE5E-2BEE-4DD8-95FD-4A349D9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9026A-0E4D-45C7-8C81-2155A3E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La honestidad metodológica es parte del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F8021-917D-4C86-BACA-6B67D502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El modelo ayuda a priorizar revisión; no sustituye autoridad histórica ni juicio docente.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14BF7-4D72-4C6D-8874-00189FC1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72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3B4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102CB-FB4D-4992-A6B0-9BA92CE4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7E6B"/>
          </a:solidFill>
          <a:ln xmlns:a="http://schemas.openxmlformats.org/drawingml/2006/main" w="9525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A4C9F-15CE-4166-AE1A-34FCFCC0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EXPERIMENTAL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A9CDC-7C91-4239-982F-85D05F00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EF7E6B"/>
                </a:solidFill>
                <a:latin typeface="Aptos Display"/>
                <a:ea typeface="Aptos Display"/>
                <a:cs typeface="Aptos Display"/>
              </a:defRPr>
            </a:pPr>
            <a:r>
              <a:rPr sz="6000" b="1">
                <a:solidFill>
                  <a:srgbClr val="EF7E6B"/>
                </a:solidFill>
                <a:latin typeface="Aptos Display"/>
                <a:ea typeface="Aptos Display"/>
                <a:cs typeface="Aptos Display"/>
              </a:rPr>
              <a:t>0.425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C8F04-EB60-4FFF-B826-A44C9436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F1 macro BETO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6B384-4681-41B2-ACDD-F5FE3F7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No se presenta como robusto ni recomendado.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C66D9-8883-4FA9-9CE3-AD50E4C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52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Supera TF-IDF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391E0-5360-4DE8-A3D6-8956F2B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E5F7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20BE8-27C0-4D55-BB8C-F60638D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812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3C7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C7A5"/>
                </a:solidFill>
                <a:latin typeface="Aptos"/>
                <a:ea typeface="Aptos"/>
                <a:cs typeface="Aptos"/>
              </a:rPr>
              <a:t>Sí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88D29-BE35-489C-87D0-B222AB3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28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05E9E-37D1-4B2E-B493-7C3701CA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14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F1 macro ≥ 0.70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5D5F4-1BC3-4667-AC2B-EDBB87EA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D9130-29E9-4455-A3C0-B1572A39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432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F7E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7E6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2367A-6855-40CE-B384-46141C2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90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7304D-1624-4B94-89C1-64F09E3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76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Kappa ≥ 0.70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D102F-5D69-4B5D-B119-46CB414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26699-4776-4054-9CC0-AC04BB6F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052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F7E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7E6B"/>
                </a:solidFill>
                <a:latin typeface="Aptos"/>
                <a:ea typeface="Aptos"/>
                <a:cs typeface="Aptos"/>
              </a:rPr>
              <a:t>No · 0.651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879AD-F3B5-4EB0-BD5B-5D18D84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BDC5B-C8F5-45D4-B32D-1DC13ED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38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Historiador independiente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8B2CF-5B09-46A6-90C4-A61D0FB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F349E-0CCD-4472-959E-5E39E37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67225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F7E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7E6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A1802-687B-43DA-91C2-99F8E30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14900"/>
            <a:ext cx="539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0D7C1-34B6-4E23-B2B1-5EC1ACA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549AE-3503-44C2-ACE9-9E6303F6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D8AC5-1A7E-48DC-83E6-A280F62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38670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2D204-8A9C-4349-9738-662F2BC1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3B85D-DE50-4996-B900-697C39F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245BB-04BE-443C-9E64-DFDD97F7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Del recurso al fragmento verificable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DDB13-4384-43CA-8040-40096C3A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Subtema, confianza, entidades y localizador aparecen juntos en una unidad revisable.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49A2C-5F99-4AB1-89F3-8C346B7C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776E2-6872-4206-9360-1BF66E85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276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3FF"/>
          </a:solidFill>
          <a:ln xmlns:a="http://schemas.openxmlformats.org/drawingml/2006/main" w="9525">
            <a:solidFill>
              <a:srgbClr val="E8E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B4214-3C25-452D-A65F-6D4733D7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12:42–13:28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13A4C-090C-440D-A2EA-497907B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24100"/>
            <a:ext cx="1447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5F7F1"/>
          </a:solidFill>
          <a:ln xmlns:a="http://schemas.openxmlformats.org/drawingml/2006/main" w="9525">
            <a:solidFill>
              <a:srgbClr val="E5F7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8A3ED-E7BF-4323-89D8-470A9B32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907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386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866A"/>
                </a:solidFill>
                <a:latin typeface="Aptos"/>
                <a:ea typeface="Aptos"/>
                <a:cs typeface="Aptos"/>
              </a:rPr>
              <a:t>CONFIANZA 0.74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87352-E1A7-42D4-ACF6-3A62D26D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Campañas y conflictos militares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405EF-0C11-4D10-8AE3-3DDC8680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“…la expedición libertadora desembarcó y reorganizó sus fuerzas antes de avanzar…”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EE650-9A72-4F25-947D-CC0CBB3A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AÑOS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3CF25-777F-4510-A145-00A6F7C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742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E5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6D55B-EB57-4EAC-9726-4B35010E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05375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1820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1A78F-52A8-4B17-A319-B5A46C8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33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PERSONAJES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DCD85-9002-4E73-ADCC-D6BCCEC1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387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E5"/>
          </a:solidFill>
          <a:ln xmlns:a="http://schemas.openxmlformats.org/drawingml/2006/main" w="9525">
            <a:solidFill>
              <a:srgbClr val="F0EC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8FAA4-6F7E-4239-B774-CBF8FDD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José de San Martín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793CB-0C0B-490D-9FE2-2A4EFB7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33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LOCALIZADOR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19D2F-CCA5-43D9-A89D-5D37C303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387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46E8"/>
          </a:solidFill>
          <a:ln xmlns:a="http://schemas.openxmlformats.org/drawingml/2006/main" w="9525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5BD05-4AE5-4EAB-96F7-49D02AF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Abrir minuto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F848F-7E21-4B4B-96BC-0BDCF76A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E2901-1D22-4CBA-9A11-9FFFCA65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97D27-4617-49D2-9670-AAF8AFD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02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Añadir 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B9981-6419-47B7-B02C-6CE107B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99C35-4CD7-4FEC-8A83-C3670A56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EC6BC-AC8D-41EE-B20B-7B27168F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860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Procesar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2D495-501B-4E65-BBC7-7508731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9525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F96A6-C8EE-4970-A1E8-C9DE9E7F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7E510-97A7-496B-999F-C096EFB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718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Revisar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52060-D0EC-4D4F-8451-A1370ED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CC6C6-A362-4D33-AAA3-B27036DF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9D551-5501-4B59-BFA7-CF9BED33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576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Buscar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827162-3532-4718-844C-6E693E89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C15FB-EB69-41CA-9160-8C4ACC6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815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3EC1D-95B2-4334-A38B-EF595D1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434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152B"/>
                </a:solidFill>
                <a:latin typeface="Aptos"/>
                <a:ea typeface="Aptos"/>
                <a:cs typeface="Aptos"/>
              </a:rPr>
              <a:t>Citar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A8D56-1F69-4DAA-9831-8E96F10C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99F1F8-C0EC-4F48-A3A5-42EFF0DC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453233-673E-4E93-81DA-7326CBE6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40298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DEFEF-0C91-44A3-9266-25E7F67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92BA2-B7BA-4C8E-8714-8FBBE1A1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PUBLICACIÓN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007A1-1236-4BA1-B2C1-449AA6A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Gratis, recuperable y con límites explícitos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1CE75-4EBC-45C3-A59C-371AEA82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La demo protege secretos, restringe acceso y evita guardar archivos en discos efímeros.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768F3-7872-4D0C-A42A-D2FD275F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5983D-5CA0-4F22-84F5-C55361A1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431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844EE-4D6D-4AAB-87C0-B311C1B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D70A0-B679-4007-94EB-70C165B9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5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50AE-542E-4A79-AC3E-80CB32D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431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CCDE-666A-4D82-8DF2-6226DB6C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76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A7CD5-507A-42B7-B5E7-EF2AD681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66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D2398-7387-40E5-BEFB-93FAA57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431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Neon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07C41-F624-40B7-9E8B-AD0D14F1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50445-2190-43DF-BD49-C8B96E1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968E5-CEA8-4E72-937E-DBCA464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7924B-1F1A-4006-8C06-1E27BA2B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BF00A-CA81-41D9-BFAC-ACAA794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66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A87EE-B182-41C7-AA6E-021C8D54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431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Modal · HF 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18F69-7FA3-41C8-AACB-BA124CCC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76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15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52B"/>
                </a:solidFill>
                <a:latin typeface="Aptos"/>
                <a:ea typeface="Aptos"/>
                <a:cs typeface="Aptos"/>
              </a:rPr>
              <a:t>ML · modelo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845A0-43EA-4DFE-A03C-FD0C008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FA332-0455-40AE-B855-E9FE2464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CORS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22A8E-4498-4BF3-BBDE-D79A85E4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solo Vercel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09E01-BD02-45A9-9A19-C6B47A95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1953C-2618-4C36-9F62-F76E3D55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24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590C0-2CC4-4FCE-B640-9CABE586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5 fallos/min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0113E-4C53-49C6-AA91-9ECB99B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E95B2-B09D-4644-889A-8CD83544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CUOTA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056F1-578A-4E00-8866-BD33030C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3 fuentes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17A297-F86F-46FE-886A-CC001BEA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148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E5AA3-5D25-4ACE-BFA0-6A41BEE5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086EE-3A9B-4F69-A26D-FCEFCD0D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482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10 MB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4AF42-3014-4B64-A7E9-4ACBE2CE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Gratis ≠ sin diseño operativo: los reinicios, secretos y archivos tienen estrategia explícita.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DDE194-64A1-487D-BEF0-D60A7AA3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EEBF8-347A-4B79-B9A4-7ED61558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CA7EF0-FFC0-4582-8D7D-FA964D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04415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44B14-FD92-4293-9EC0-B6C740C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solidFill>
              <a:srgbClr val="F8F5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E7A61-B6EE-49FE-A412-E4FB8F39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LIMITACIONES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6F845-E90F-427B-9684-68A4956E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Qué demuestra el TFM — y qué todavía 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35577-B5B9-4373-A025-D45E8576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Los límites metodológicos y operativos se presentan como condiciones de validez, no como notas al pie.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005C9-8AD5-4079-A19A-AAEF9785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8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22FF9-6E8F-4646-B640-8AE10E9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EF7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4D412-9676-45A9-8E24-EE79445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F7E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7E6B"/>
                </a:solidFill>
                <a:latin typeface="Aptos"/>
                <a:ea typeface="Aptos"/>
                <a:cs typeface="Aptos"/>
              </a:rPr>
              <a:t>VALIDACIÓN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EBE24-2477-406E-84E0-CCC872F1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Sin historiador independiente; revisión asistida por 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729B0-0638-4D7D-95E2-55B06EB4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518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0FAC2-4C13-41BB-9417-AEAE057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E7B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BFA88-962B-4181-924E-833EE46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7B7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7B75B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39EDF-188B-4AC4-AE94-3997681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051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F1 0.425 y Kappa 0.651: aún experimentales.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B0EF1-E191-40CA-8D0F-DFE030BE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18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C3906-D4BC-4CDE-BDF2-B13A19BE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5546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11798-D333-4FA2-8D55-9F7C6D48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54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46E8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5968F-3CAA-4A7D-8AE1-C5557ACA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Español, 1780–1842 y PDF sin OCR.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16779-05DD-4B64-A418-D3CEE5F3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51816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C9E31-59B0-48A3-A79B-E694F89C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9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A5"/>
          </a:solidFill>
          <a:ln xmlns:a="http://schemas.openxmlformats.org/drawingml/2006/main" w="0">
            <a:solidFill>
              <a:srgbClr val="63C7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B058F-B835-4760-A210-CF76900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3C7A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C7A5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ADE74-565F-45AF-A57C-C13375A2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52B"/>
                </a:solidFill>
                <a:latin typeface="Aptos Display"/>
                <a:ea typeface="Aptos Display"/>
                <a:cs typeface="Aptos Display"/>
              </a:rPr>
              <a:t>Cold starts, cuotas gratuitas y riesgo de licencia.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F6837-3FA5-493C-9C02-A696763A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8165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152B"/>
          </a:solidFill>
          <a:ln xmlns:a="http://schemas.openxmlformats.org/drawingml/2006/main" w="9525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33ED9-D176-4432-8BFE-AF17899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86425"/>
            <a:ext cx="811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defensa gana credibilidad cuando distingue aporte demostrado de trabajo futuro.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9079F-60A7-4149-9702-59F9496A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978FE-B3B7-4549-8CE4-BF4E23E6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7D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10B46-538B-4320-B2BC-46C76EFF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F6A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6A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93151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751A9-D820-4C7D-8848-35337D8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2B"/>
          </a:solidFill>
          <a:ln xmlns:a="http://schemas.openxmlformats.org/drawingml/2006/main" w="0">
            <a:solidFill>
              <a:srgbClr val="1715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A42D6-3765-4E5F-AC10-3A786C9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7B7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7B75B"/>
                </a:solidFill>
                <a:latin typeface="Aptos"/>
                <a:ea typeface="Aptos"/>
                <a:cs typeface="Aptos"/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6C520-211F-4C59-8D03-0D4A1080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 aporte no es un modelo perfecto.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E1D41-5BBD-4F7E-ACEA-E2A71A3E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AFA7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AFA7FF"/>
                </a:solidFill>
                <a:latin typeface="Aptos Display"/>
                <a:ea typeface="Aptos Display"/>
                <a:cs typeface="Aptos Display"/>
              </a:rPr>
              <a:t>Es un flujo docente verificable.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5F1CA-40E4-418B-9604-83CBD8C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4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2B34-0681-4580-AA2A-564A2AC5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B3C9"/>
                </a:solidFill>
                <a:latin typeface="Aptos"/>
                <a:ea typeface="Aptos"/>
                <a:cs typeface="Aptos"/>
              </a:rPr>
              <a:t>ENCUENTRA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C8DAA-A64A-41FD-A782-557A5B53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2232F-D1E5-4795-84FA-E3F1DA1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7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AC1C4-7BCF-4FDE-B4B5-73D8E373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B3C9"/>
                </a:solidFill>
                <a:latin typeface="Aptos"/>
                <a:ea typeface="Aptos"/>
                <a:cs typeface="Aptos"/>
              </a:rPr>
              <a:t>EXPLICA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E9C8E-DC04-4938-A533-D04DDE51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subtemas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896DC-D830-452A-9DE4-3A2FC6D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8B4E2-B696-4A28-8A14-2349C849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B3C9"/>
                </a:solidFill>
                <a:latin typeface="Aptos"/>
                <a:ea typeface="Aptos"/>
                <a:cs typeface="Aptos"/>
              </a:rPr>
              <a:t>CITA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3D5E2-5015-407C-8FC7-A118895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fuente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68D4E-DCE6-4138-BEFB-FE4505B9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81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BE826-06EC-47E4-A5BB-1A12DB18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B3C9"/>
                </a:solidFill>
                <a:latin typeface="Aptos"/>
                <a:ea typeface="Aptos"/>
                <a:cs typeface="Aptos"/>
              </a:rPr>
              <a:t>APRENDE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66D69-6217-4D91-942C-4CC01B1C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 correcciones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15C4B-20BC-4150-9567-7A7946C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D2E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D2E3"/>
                </a:solidFill>
                <a:latin typeface="Aptos"/>
                <a:ea typeface="Aptos"/>
                <a:cs typeface="Aptos"/>
              </a:rPr>
              <a:t>Siguiente paso: ampliar el corpus, validar con especialistas y evaluar BETO v2 con docentes.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0870D-F51E-474A-B7E7-55E4E3A3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5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65280-1BD2-4F07-BF06-18C919A5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3C9"/>
                </a:solidFill>
                <a:latin typeface="Aptos"/>
                <a:ea typeface="Aptos"/>
                <a:cs typeface="Aptos"/>
              </a:rPr>
              <a:t>Historia Viva Perú · TFM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BE62A-7FA1-4A3C-8761-3E711F4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9B3C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B3C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48662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2026-07-21T01:56:19.0190000Z</dcterms:created>
  <dcterms:modified xsi:type="dcterms:W3CDTF">2026-07-21T01:56:19.0190000Z</dcterms:modified>
</coreProperties>
</file>